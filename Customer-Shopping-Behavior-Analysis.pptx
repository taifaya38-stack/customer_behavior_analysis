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Work Sans SemiBold" panose="020B0604020202020204" charset="0"/>
      <p:regular r:id="rId13"/>
    </p:embeddedFont>
    <p:embeddedFont>
      <p:font typeface="Segoe UI Emoji" panose="020B0502040204020203" pitchFamily="34" charset="0"/>
      <p:regular r:id="rId14"/>
    </p:embeddedFont>
    <p:embeddedFont>
      <p:font typeface="Work Sans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Spline Sans Light" panose="020B0604020202020204" charset="0"/>
      <p:regular r:id="rId20"/>
    </p:embeddedFont>
    <p:embeddedFont>
      <p:font typeface="Work Sans Light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95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675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executive summary of the customer shopping behavior dataset, covering transaction volume, customer segments, and merchandising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broad baseline: 3,900 transactions, stable basket values around $60, and strong overall sentiment at 3.75 stars.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engineering phases: data preparation, validation, SQL analysis in PostgreSQL, and final visualization in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male revenue dominance ($158K vs $75K), but emphasize caution against single-attribute targeting without category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strategic finding: over 3,100 customers are classified as loyal, yet only 27% subscribe, leaving $170K in uncommitted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839 customers maintained above-average order values with discounts. Emphasize margin protection on low-dependence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dual perspective: top volume drivers by category alongside highest-rated products. Note that Sandals appear in both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Young Adults lead revenue, but the four age groups are relatively close. Prioritize Young Adult slightly, but avoid a single-segment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 purchase: $60.48; Standard purchase: $58.46. The $2.02 gap should be tested against shipping cost and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Power BI dashboard implementation, showcasing how business stakeholders can interactively explore the data by category, age, and subscription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11009870" y="6524368"/>
            <a:ext cx="1095632" cy="24713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Realized</a:t>
            </a:r>
            <a:r>
              <a:rPr lang="fr-FR" sz="900" dirty="0" smtClean="0">
                <a:latin typeface="Segoe UI Emoji" panose="020B0502040204020203" pitchFamily="34" charset="0"/>
                <a:ea typeface="Segoe UI Emoji" panose="020B0502040204020203" pitchFamily="34" charset="0"/>
              </a:rPr>
              <a:t> by </a:t>
            </a:r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Aya.T</a:t>
            </a:r>
            <a:endParaRPr lang="fr-FR" sz="9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933427" y="1397000"/>
            <a:ext cx="3462945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7C95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0084" y="1450280"/>
            <a:ext cx="3859215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7C95BC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RETAIL INTELLIGENCE &amp; PERFORMANCE REPORT</a:t>
            </a:r>
            <a:endParaRPr lang="en-US" sz="1100" dirty="0">
              <a:solidFill>
                <a:srgbClr val="7C95BC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33427" y="1844973"/>
            <a:ext cx="8546886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Customer Shopping</a:t>
            </a:r>
            <a:endParaRPr lang="en-US" sz="52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Behavior Analysis</a:t>
            </a:r>
            <a:endParaRPr lang="en-US" sz="52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33427" y="3318173"/>
            <a:ext cx="854688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Translating 3,900 customer transactions across 50 locations into strategic merchandising and retention decisions.</a:t>
            </a:r>
            <a:endParaRPr lang="en-US" sz="16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355600"/>
            <a:ext cx="457188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7C95BC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EXECUTIVE SUMMARY</a:t>
            </a:r>
            <a:endParaRPr lang="en-US" sz="1050" dirty="0">
              <a:solidFill>
                <a:srgbClr val="7C95BC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792" y="615255"/>
            <a:ext cx="4267093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3,900 purchases reveal a repeat-heavy customer base</a:t>
            </a:r>
            <a:endParaRPr lang="en-US" sz="32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4792" y="5507038"/>
            <a:ext cx="4267093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2D6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The dataset spans 50 locations across 25 products, providing a statistically reliable view of basket sizes, satisfaction ratings, and core customer profiles.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83068" y="1763415"/>
            <a:ext cx="690862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04C8E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CORE METRICS &amp; PROFILE</a:t>
            </a:r>
            <a:endParaRPr lang="en-US" sz="105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83068" y="2305645"/>
            <a:ext cx="302252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dirty="0">
                <a:solidFill>
                  <a:schemeClr val="accent1">
                    <a:lumMod val="5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3,900</a:t>
            </a:r>
            <a:endParaRPr lang="en-US" sz="3800" dirty="0">
              <a:solidFill>
                <a:schemeClr val="accent1">
                  <a:lumMod val="5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83068" y="2966045"/>
            <a:ext cx="302252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Recorded transactions</a:t>
            </a: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across 25 products, 4 categories &amp; 50 locations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62781" y="2305645"/>
            <a:ext cx="302252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dirty="0">
                <a:solidFill>
                  <a:schemeClr val="accent1">
                    <a:lumMod val="5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44.1</a:t>
            </a:r>
            <a:endParaRPr lang="en-US" sz="3800" dirty="0">
              <a:solidFill>
                <a:schemeClr val="accent1">
                  <a:lumMod val="5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62781" y="2966045"/>
            <a:ext cx="302252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Average customer age</a:t>
            </a: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, reflecting a mature, prime-earning demographic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83068" y="3814366"/>
            <a:ext cx="302252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dirty="0">
                <a:solidFill>
                  <a:schemeClr val="accent1">
                    <a:lumMod val="5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$59.76</a:t>
            </a:r>
            <a:endParaRPr lang="en-US" sz="3800" dirty="0">
              <a:solidFill>
                <a:schemeClr val="accent1">
                  <a:lumMod val="5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83068" y="4474766"/>
            <a:ext cx="302252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Average purchase amount</a:t>
            </a: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, consistent across major spending tiers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762781" y="3814366"/>
            <a:ext cx="302252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dirty="0">
                <a:solidFill>
                  <a:schemeClr val="accent1">
                    <a:lumMod val="5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3.75</a:t>
            </a:r>
            <a:endParaRPr lang="en-US" sz="3800" dirty="0">
              <a:solidFill>
                <a:schemeClr val="accent1">
                  <a:lumMod val="5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762781" y="4474766"/>
            <a:ext cx="302252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Average review rating</a:t>
            </a: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(37 missing ratings imputed by category median)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527837" y="2077045"/>
            <a:ext cx="12700" cy="150872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283068" y="3579416"/>
            <a:ext cx="3251119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27837" y="3585766"/>
            <a:ext cx="12700" cy="150872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534187" y="3579416"/>
            <a:ext cx="3251119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9" name="Rectangle à coins arrondis 18"/>
          <p:cNvSpPr/>
          <p:nvPr/>
        </p:nvSpPr>
        <p:spPr>
          <a:xfrm>
            <a:off x="11009870" y="6524368"/>
            <a:ext cx="1095632" cy="24713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Realized</a:t>
            </a:r>
            <a:r>
              <a:rPr lang="fr-FR" sz="900" dirty="0" smtClean="0">
                <a:latin typeface="Segoe UI Emoji" panose="020B0502040204020203" pitchFamily="34" charset="0"/>
                <a:ea typeface="Segoe UI Emoji" panose="020B0502040204020203" pitchFamily="34" charset="0"/>
              </a:rPr>
              <a:t> by </a:t>
            </a:r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Aya.T</a:t>
            </a:r>
            <a:endParaRPr lang="fr-FR" sz="9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680964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04C8E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METHODOLOGY &amp; ARCHITECTURE</a:t>
            </a:r>
            <a:endParaRPr lang="en-US" sz="105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89" y="1940620"/>
            <a:ext cx="1127731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The analysis pipeline turns transactions into business signals</a:t>
            </a:r>
            <a:endParaRPr lang="en-US" sz="3200" dirty="0">
              <a:solidFill>
                <a:srgbClr val="002060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189" y="2565400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A four-stage transformation from raw transaction logs into decision-ready business intelligence.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189" y="3042841"/>
            <a:ext cx="2590735" cy="2134096"/>
          </a:xfrm>
          <a:prstGeom prst="rect">
            <a:avLst/>
          </a:prstGeom>
          <a:solidFill>
            <a:srgbClr val="F7F5FB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9433" y="3315891"/>
            <a:ext cx="471079" cy="368300"/>
          </a:xfrm>
          <a:prstGeom prst="roundRect">
            <a:avLst>
              <a:gd name="adj" fmla="val 14482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5B4A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4681" y="3366691"/>
            <a:ext cx="8901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SemiBold" pitchFamily="34" charset="-120"/>
              </a:rPr>
              <a:t>01</a:t>
            </a:r>
            <a:endParaRPr lang="en-US" sz="2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9433" y="3757216"/>
            <a:ext cx="21462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1. Prepare</a:t>
            </a:r>
            <a:endParaRPr lang="en-US" sz="1700" dirty="0">
              <a:solidFill>
                <a:schemeClr val="accent1">
                  <a:lumMod val="5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9433" y="4121646"/>
            <a:ext cx="21462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Clean 37 missing ratings, standardize column syntax, and engineer age and purchase-frequency cohorts.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52716" y="3042841"/>
            <a:ext cx="2590735" cy="2134096"/>
          </a:xfrm>
          <a:prstGeom prst="rect">
            <a:avLst/>
          </a:prstGeom>
          <a:solidFill>
            <a:srgbClr val="F7F5FB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4961" y="3315891"/>
            <a:ext cx="517810" cy="368300"/>
          </a:xfrm>
          <a:prstGeom prst="roundRect">
            <a:avLst>
              <a:gd name="adj" fmla="val 14482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5B4A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0208" y="3366691"/>
            <a:ext cx="93689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SemiBold" pitchFamily="34" charset="-120"/>
              </a:rPr>
              <a:t>02</a:t>
            </a:r>
            <a:endParaRPr lang="en-US" sz="2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74961" y="3757216"/>
            <a:ext cx="21462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2. Validate</a:t>
            </a:r>
            <a:endParaRPr lang="en-US" sz="1700" dirty="0">
              <a:solidFill>
                <a:schemeClr val="accent1">
                  <a:lumMod val="5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74961" y="4121646"/>
            <a:ext cx="214624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Audit consistency, drop the redundant promo-code field, and verify categorical integrity.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48244" y="3042841"/>
            <a:ext cx="2590735" cy="2134096"/>
          </a:xfrm>
          <a:prstGeom prst="rect">
            <a:avLst/>
          </a:prstGeom>
          <a:solidFill>
            <a:srgbClr val="F7F5FB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0488" y="3315891"/>
            <a:ext cx="514039" cy="368300"/>
          </a:xfrm>
          <a:prstGeom prst="roundRect">
            <a:avLst>
              <a:gd name="adj" fmla="val 14482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5B4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736" y="3366691"/>
            <a:ext cx="93312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SemiBold" pitchFamily="34" charset="-120"/>
              </a:rPr>
              <a:t>03</a:t>
            </a:r>
            <a:endParaRPr lang="en-US" sz="2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70488" y="3757216"/>
            <a:ext cx="21462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3. Analyze</a:t>
            </a:r>
            <a:endParaRPr lang="en-US" sz="1700" dirty="0">
              <a:solidFill>
                <a:schemeClr val="accent1">
                  <a:lumMod val="5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70488" y="4121646"/>
            <a:ext cx="21462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Load the clean data into PostgreSQL to run structured commercial and behavioral queries.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3771" y="3042841"/>
            <a:ext cx="2590735" cy="2134096"/>
          </a:xfrm>
          <a:prstGeom prst="rect">
            <a:avLst/>
          </a:prstGeom>
          <a:solidFill>
            <a:srgbClr val="F7F5FB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66016" y="3315891"/>
            <a:ext cx="529021" cy="368300"/>
          </a:xfrm>
          <a:prstGeom prst="roundRect">
            <a:avLst>
              <a:gd name="adj" fmla="val 14482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5B4A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1263" y="3366691"/>
            <a:ext cx="94811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SemiBold" pitchFamily="34" charset="-120"/>
              </a:rPr>
              <a:t>04</a:t>
            </a:r>
            <a:endParaRPr lang="en-US" sz="2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366016" y="3757216"/>
            <a:ext cx="21462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4. Activate</a:t>
            </a:r>
            <a:endParaRPr lang="en-US" sz="1700" dirty="0">
              <a:solidFill>
                <a:schemeClr val="accent1">
                  <a:lumMod val="5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66016" y="4121646"/>
            <a:ext cx="214624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Surface core findings, interactive filters, and margin signals in a dynamic Power BI workspace.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11009870" y="6524368"/>
            <a:ext cx="1095632" cy="24713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Realized</a:t>
            </a:r>
            <a:r>
              <a:rPr lang="fr-FR" sz="900" dirty="0" smtClean="0">
                <a:latin typeface="Segoe UI Emoji" panose="020B0502040204020203" pitchFamily="34" charset="0"/>
                <a:ea typeface="Segoe UI Emoji" panose="020B0502040204020203" pitchFamily="34" charset="0"/>
              </a:rPr>
              <a:t> by </a:t>
            </a:r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Aya.T</a:t>
            </a:r>
            <a:endParaRPr lang="fr-FR" sz="9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977702"/>
            <a:ext cx="638794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04C8E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REVENUE DISTRIBUTION</a:t>
            </a:r>
            <a:endParaRPr lang="en-US" sz="105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89" y="1237357"/>
            <a:ext cx="5930752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Male customers drive 68% of recorded revenue</a:t>
            </a:r>
            <a:endParaRPr lang="en-US" sz="3200" dirty="0">
              <a:solidFill>
                <a:srgbClr val="002060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189" y="2309118"/>
            <a:ext cx="593075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Male shoppers generated $157,890 compared to $75,191 from female shoppers across recorded orders.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59199"/>
            <a:ext cx="5841854" cy="2921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02317" y="0"/>
            <a:ext cx="4889378" cy="68580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Shape 4"/>
          <p:cNvSpPr/>
          <p:nvPr/>
        </p:nvSpPr>
        <p:spPr>
          <a:xfrm>
            <a:off x="7607110" y="2488208"/>
            <a:ext cx="1836493" cy="270173"/>
          </a:xfrm>
          <a:prstGeom prst="roundRect">
            <a:avLst>
              <a:gd name="adj" fmla="val 4231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8" name="Text 5"/>
          <p:cNvSpPr/>
          <p:nvPr/>
        </p:nvSpPr>
        <p:spPr>
          <a:xfrm>
            <a:off x="7713767" y="2541488"/>
            <a:ext cx="223276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STRATEGIC IMPLICATION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07110" y="2910780"/>
            <a:ext cx="427979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Combine demographic lenses</a:t>
            </a:r>
            <a:endParaRPr lang="en-US" sz="20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07110" y="3317180"/>
            <a:ext cx="427979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While male shoppers generate more than double the recorded sales volume, campaign decisions must not isolate gender alone.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07110" y="4190702"/>
            <a:ext cx="4279793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Merchandising and promotional allocation must be paired with category mix, age cohort performance, and localized product preferences.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1576288"/>
            <a:ext cx="695942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04C8E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RETENTION &amp; CONVERSION INFLECTION</a:t>
            </a:r>
            <a:endParaRPr lang="en-US" sz="105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5591" y="1835944"/>
            <a:ext cx="660383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Loyalty is strong, but subscription penetration is low</a:t>
            </a:r>
            <a:endParaRPr lang="en-US" sz="3200" dirty="0">
              <a:solidFill>
                <a:srgbClr val="002060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55591" y="2907705"/>
            <a:ext cx="660383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Repeat behavior exists at scale, yet subscription enrollment remains the clearest commercial expansion opportunity.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55591" y="3583186"/>
            <a:ext cx="2099615" cy="1698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3786386"/>
            <a:ext cx="1693225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3,116</a:t>
            </a:r>
            <a:endParaRPr lang="en-US" sz="3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8786" y="4322961"/>
            <a:ext cx="169322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Loyal</a:t>
            </a:r>
            <a:endParaRPr lang="en-US" sz="17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8786" y="4687391"/>
            <a:ext cx="169322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Primary repeat purchase core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07602" y="3583186"/>
            <a:ext cx="2099714" cy="1698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2810797" y="3786386"/>
            <a:ext cx="169332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701</a:t>
            </a:r>
            <a:endParaRPr lang="en-US" sz="3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10797" y="4322961"/>
            <a:ext cx="169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Returning</a:t>
            </a:r>
            <a:endParaRPr lang="en-US" sz="17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10797" y="4687391"/>
            <a:ext cx="169332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Second-stage retention pool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59712" y="3583186"/>
            <a:ext cx="2099615" cy="1698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5062907" y="3786386"/>
            <a:ext cx="1693225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83</a:t>
            </a:r>
            <a:endParaRPr lang="en-US" sz="3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62907" y="4322961"/>
            <a:ext cx="169322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New</a:t>
            </a:r>
            <a:endParaRPr lang="en-US" sz="17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62907" y="4687391"/>
            <a:ext cx="18964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Recent acquisition cohort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6"/>
          <p:cNvSpPr/>
          <p:nvPr/>
        </p:nvSpPr>
        <p:spPr>
          <a:xfrm>
            <a:off x="7619809" y="1936552"/>
            <a:ext cx="457188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chemeClr val="accent1">
                    <a:lumMod val="40000"/>
                    <a:lumOff val="6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SUBSCRIPTION GAP</a:t>
            </a:r>
            <a:endParaRPr lang="en-US" sz="1050" dirty="0">
              <a:solidFill>
                <a:schemeClr val="accent1">
                  <a:lumMod val="40000"/>
                  <a:lumOff val="6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19809" y="2196207"/>
            <a:ext cx="426709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chemeClr val="accent1">
                    <a:lumMod val="40000"/>
                    <a:lumOff val="6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73%</a:t>
            </a:r>
            <a:endParaRPr lang="en-US" sz="5200" dirty="0">
              <a:solidFill>
                <a:schemeClr val="accent1">
                  <a:lumMod val="40000"/>
                  <a:lumOff val="6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19809" y="3015357"/>
            <a:ext cx="426709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Non-Subscribers</a:t>
            </a:r>
            <a:endParaRPr lang="en-US" sz="20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19809" y="3421757"/>
            <a:ext cx="426709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2D6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Non-subscribers contribute </a:t>
            </a:r>
            <a:r>
              <a:rPr lang="en-US" sz="1400" b="1" dirty="0">
                <a:solidFill>
                  <a:srgbClr val="FBF2D6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$170,436</a:t>
            </a:r>
            <a:r>
              <a:rPr lang="en-US" sz="1400" dirty="0">
                <a:solidFill>
                  <a:srgbClr val="FBF2D6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in revenue versus </a:t>
            </a:r>
            <a:r>
              <a:rPr lang="en-US" sz="1400" b="1" dirty="0">
                <a:solidFill>
                  <a:srgbClr val="FBF2D6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$62,645</a:t>
            </a:r>
            <a:r>
              <a:rPr lang="en-US" sz="1400" dirty="0">
                <a:solidFill>
                  <a:srgbClr val="FBF2D6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from active subscribers (27% penetration).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19809" y="4339729"/>
            <a:ext cx="4267093" cy="19050"/>
          </a:xfrm>
          <a:prstGeom prst="roundRect">
            <a:avLst>
              <a:gd name="adj" fmla="val 49999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23" name="Text 21"/>
          <p:cNvSpPr/>
          <p:nvPr/>
        </p:nvSpPr>
        <p:spPr>
          <a:xfrm>
            <a:off x="7619809" y="4530229"/>
            <a:ext cx="426709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8E8B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Converting repeat and loyal shoppers into formal recurring subscribers represents the highest-leverage retention move.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892671"/>
            <a:ext cx="619238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04C8E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DISCOUNT ELASTICITY</a:t>
            </a:r>
            <a:endParaRPr lang="en-US" sz="105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89" y="1152327"/>
            <a:ext cx="573519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Discounts can lift value without defining the whole basket</a:t>
            </a:r>
            <a:endParaRPr lang="en-US" sz="3200" dirty="0">
              <a:solidFill>
                <a:srgbClr val="002060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189" y="2224088"/>
            <a:ext cx="573519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Top discount-dependent products hover near 50%, while 839 customers spent above the average purchase amount while applying a discount.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097609"/>
            <a:ext cx="5735196" cy="2867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F7F5FB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0505" y="2969419"/>
            <a:ext cx="1547873" cy="270173"/>
          </a:xfrm>
          <a:prstGeom prst="roundRect">
            <a:avLst>
              <a:gd name="adj" fmla="val 4231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8" name="Text 5"/>
          <p:cNvSpPr/>
          <p:nvPr/>
        </p:nvSpPr>
        <p:spPr>
          <a:xfrm>
            <a:off x="7537162" y="3022699"/>
            <a:ext cx="194414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PRICING DISCIPLINE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30505" y="3391991"/>
            <a:ext cx="44373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Implication</a:t>
            </a:r>
            <a:endParaRPr lang="en-US" sz="20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30505" y="3798391"/>
            <a:ext cx="443734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Use targeted offers where discount sensitivity is high, while protecting margin on less-dependent products.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181596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7C95BC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CATALOG</a:t>
            </a:r>
            <a:r>
              <a:rPr lang="en-US" sz="1050" kern="100" spc="63" dirty="0">
                <a:solidFill>
                  <a:srgbClr val="204C8E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STRATEGY</a:t>
            </a:r>
            <a:endParaRPr lang="en-US" sz="105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89" y="1441252"/>
            <a:ext cx="1127731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Product signals point to a focused merchandising story</a:t>
            </a:r>
            <a:endParaRPr lang="en-US" sz="3200" dirty="0">
              <a:solidFill>
                <a:srgbClr val="002060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189" y="2066032"/>
            <a:ext cx="5120552" cy="32370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294632"/>
            <a:ext cx="461256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Category Leaders</a:t>
            </a:r>
            <a:endParaRPr lang="en-US" sz="17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64793"/>
              </p:ext>
            </p:extLst>
          </p:nvPr>
        </p:nvGraphicFramePr>
        <p:xfrm>
          <a:off x="711182" y="2659063"/>
          <a:ext cx="4612564" cy="1979960"/>
        </p:xfrm>
        <a:graphic>
          <a:graphicData uri="http://schemas.openxmlformats.org/drawingml/2006/table">
            <a:tbl>
              <a:tblPr/>
              <a:tblGrid>
                <a:gridCol w="2075604"/>
                <a:gridCol w="2536960"/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Category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Leader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Accessories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Jewelry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Clothing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Blouse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Footwear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Sandals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Outerwear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Jacket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82433" y="2066032"/>
            <a:ext cx="5852073" cy="3237012"/>
          </a:xfrm>
          <a:prstGeom prst="rect">
            <a:avLst/>
          </a:prstGeom>
          <a:solidFill>
            <a:srgbClr val="F7F5FB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6155476" y="2313682"/>
            <a:ext cx="530598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Top-Rated Products</a:t>
            </a:r>
            <a:endParaRPr lang="en-US" sz="17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811871"/>
              </p:ext>
            </p:extLst>
          </p:nvPr>
        </p:nvGraphicFramePr>
        <p:xfrm>
          <a:off x="6155476" y="2678112"/>
          <a:ext cx="5305986" cy="2377222"/>
        </p:xfrm>
        <a:graphic>
          <a:graphicData uri="http://schemas.openxmlformats.org/drawingml/2006/table">
            <a:tbl>
              <a:tblPr/>
              <a:tblGrid>
                <a:gridCol w="3183552"/>
                <a:gridCol w="2122434"/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Product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Rating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Gloves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★ 3.86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Sandals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★ 3.84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Boots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★ 3.82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Hat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★ 3.80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Skirt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42A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★ 3.78</a:t>
                      </a:r>
                      <a:endParaRPr lang="en-US" sz="14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4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189" y="5480844"/>
            <a:ext cx="1173450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Implication:</a:t>
            </a: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combine high ratings with purchase volume to choose hero products for campaigns and onsite placement.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11009870" y="6524368"/>
            <a:ext cx="1095632" cy="24713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Realized</a:t>
            </a:r>
            <a:r>
              <a:rPr lang="fr-FR" sz="900" dirty="0" smtClean="0">
                <a:latin typeface="Segoe UI Emoji" panose="020B0502040204020203" pitchFamily="34" charset="0"/>
                <a:ea typeface="Segoe UI Emoji" panose="020B0502040204020203" pitchFamily="34" charset="0"/>
              </a:rPr>
              <a:t> by </a:t>
            </a:r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Aya.T</a:t>
            </a:r>
            <a:endParaRPr lang="fr-FR" sz="9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58359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04C8E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DEMOGRAPHIC REVENUE</a:t>
            </a:r>
            <a:endParaRPr lang="en-US" sz="105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89" y="716855"/>
            <a:ext cx="612640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Age groups contribute revenue more evenly than expected</a:t>
            </a:r>
            <a:endParaRPr lang="en-US" sz="3200" dirty="0">
              <a:solidFill>
                <a:srgbClr val="002060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189" y="2341563"/>
            <a:ext cx="65835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Young Adults lead revenue, but the four age groups are relatively close.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749153"/>
            <a:ext cx="6095848" cy="2921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7873" y="0"/>
            <a:ext cx="4693822" cy="68580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Shape 4"/>
          <p:cNvSpPr/>
          <p:nvPr/>
        </p:nvSpPr>
        <p:spPr>
          <a:xfrm>
            <a:off x="7802665" y="2121892"/>
            <a:ext cx="1671496" cy="270173"/>
          </a:xfrm>
          <a:prstGeom prst="roundRect">
            <a:avLst>
              <a:gd name="adj" fmla="val 4231"/>
            </a:avLst>
          </a:prstGeom>
          <a:solidFill>
            <a:srgbClr val="FAF1D1"/>
          </a:solidFill>
          <a:ln/>
        </p:spPr>
      </p:sp>
      <p:sp>
        <p:nvSpPr>
          <p:cNvPr id="8" name="Text 5"/>
          <p:cNvSpPr/>
          <p:nvPr/>
        </p:nvSpPr>
        <p:spPr>
          <a:xfrm>
            <a:off x="7909322" y="2175173"/>
            <a:ext cx="206776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PORTFOLIO READOUT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802665" y="2544465"/>
            <a:ext cx="408423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Revenue by age group</a:t>
            </a:r>
            <a:endParaRPr lang="en-US" sz="20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802665" y="2950865"/>
            <a:ext cx="4084238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Young Adult:</a:t>
            </a:r>
            <a:r>
              <a:rPr lang="en-US" sz="14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$62,143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Middle-aged:</a:t>
            </a:r>
            <a:r>
              <a:rPr lang="en-US" sz="14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$59,197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Adult:</a:t>
            </a:r>
            <a:r>
              <a:rPr lang="en-US" sz="14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$55,978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Senior:</a:t>
            </a:r>
            <a:r>
              <a:rPr lang="en-US" sz="14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$55,763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802665" y="4238327"/>
            <a:ext cx="408423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Readout:</a:t>
            </a:r>
            <a:r>
              <a:rPr lang="en-US" sz="14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prioritize Young Adult slightly, but avoid a single-segment strategy.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932384"/>
            <a:ext cx="690862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7C95BC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FULFILLMENT &amp; LOGISTICS</a:t>
            </a:r>
            <a:endParaRPr lang="en-US" sz="1050" dirty="0">
              <a:solidFill>
                <a:srgbClr val="7C95BC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6390" y="2192040"/>
            <a:ext cx="6502237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Express shipping commands a modest premium</a:t>
            </a:r>
            <a:endParaRPr lang="en-US" sz="3200" dirty="0">
              <a:solidFill>
                <a:srgbClr val="002060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06390" y="3263801"/>
            <a:ext cx="3098722" cy="1661716"/>
          </a:xfrm>
          <a:prstGeom prst="rect">
            <a:avLst/>
          </a:prstGeom>
          <a:solidFill>
            <a:srgbClr val="F7F5FB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9433" y="3536851"/>
            <a:ext cx="282567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STANDARD</a:t>
            </a:r>
            <a:endParaRPr lang="en-US" sz="105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9433" y="3796506"/>
            <a:ext cx="2552636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$58.46</a:t>
            </a:r>
            <a:endParaRPr lang="en-US" sz="38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9433" y="4456906"/>
            <a:ext cx="282567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Average Standard purchase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09905" y="3263801"/>
            <a:ext cx="3098722" cy="1661716"/>
          </a:xfrm>
          <a:prstGeom prst="rect">
            <a:avLst/>
          </a:prstGeom>
          <a:solidFill>
            <a:srgbClr val="204C8E"/>
          </a:solidFill>
          <a:ln/>
        </p:spPr>
      </p:sp>
      <p:sp>
        <p:nvSpPr>
          <p:cNvPr id="9" name="Text 7"/>
          <p:cNvSpPr/>
          <p:nvPr/>
        </p:nvSpPr>
        <p:spPr>
          <a:xfrm>
            <a:off x="4063898" y="3517801"/>
            <a:ext cx="284472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chemeClr val="accent1">
                    <a:lumMod val="40000"/>
                    <a:lumOff val="6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EXPRESS</a:t>
            </a:r>
            <a:endParaRPr lang="en-US" sz="1050" dirty="0">
              <a:solidFill>
                <a:schemeClr val="accent1">
                  <a:lumMod val="40000"/>
                  <a:lumOff val="6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63898" y="3777456"/>
            <a:ext cx="259073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$60.48</a:t>
            </a:r>
            <a:endParaRPr lang="en-US" sz="3800" dirty="0">
              <a:solidFill>
                <a:schemeClr val="accent1">
                  <a:lumMod val="20000"/>
                  <a:lumOff val="8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63898" y="4437856"/>
            <a:ext cx="284472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BF2D6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Average Express purchase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19809" y="2641203"/>
            <a:ext cx="1722394" cy="270173"/>
          </a:xfrm>
          <a:prstGeom prst="roundRect">
            <a:avLst>
              <a:gd name="adj" fmla="val 4231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7726467" y="2694484"/>
            <a:ext cx="211866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6142A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DELIVERY ECONOMICS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19809" y="3063776"/>
            <a:ext cx="426709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+$2.02 basket difference</a:t>
            </a:r>
            <a:endParaRPr lang="en-US" sz="20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19809" y="3470176"/>
            <a:ext cx="426709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Fast delivery can be positioned as a convenience upsell, but the $2.02 gap should be tested against shipping cost and conversion.</a:t>
            </a:r>
            <a:endParaRPr lang="en-US" sz="1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263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1753691"/>
            <a:ext cx="51814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chemeClr val="accent1">
                    <a:lumMod val="20000"/>
                    <a:lumOff val="80000"/>
                  </a:schemeClr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OPERATIONAL DASHBOARD</a:t>
            </a:r>
            <a:endParaRPr lang="en-US" sz="1050" dirty="0">
              <a:solidFill>
                <a:schemeClr val="accent1">
                  <a:lumMod val="20000"/>
                  <a:lumOff val="80000"/>
                </a:schemeClr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792" y="2013347"/>
            <a:ext cx="4876678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pline Sans Light" pitchFamily="34" charset="-120"/>
              </a:rPr>
              <a:t>Power BI turns the analysis into a decision surface</a:t>
            </a:r>
            <a:endParaRPr lang="en-US" sz="32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4792" y="3237508"/>
            <a:ext cx="487667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Filters:</a:t>
            </a:r>
            <a:r>
              <a:rPr lang="en-US" sz="11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Subscription status, gender, category, shipping type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4792" y="3788668"/>
            <a:ext cx="487667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Core KPIs:</a:t>
            </a:r>
            <a:r>
              <a:rPr lang="en-US" sz="11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3.9K customers; $59.76 average purchase amount; 3.75 average review rating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4792" y="4535388"/>
            <a:ext cx="487667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Bold" pitchFamily="34" charset="-120"/>
              </a:rPr>
              <a:t>Views:</a:t>
            </a:r>
            <a:r>
              <a:rPr lang="en-US" sz="1100" dirty="0">
                <a:solidFill>
                  <a:srgbClr val="FFFFFF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Work Sans Light" pitchFamily="34" charset="-120"/>
              </a:rPr>
              <a:t> Subscription mix; revenue and sales by category; revenue and sales by age group</a:t>
            </a:r>
            <a:endParaRPr lang="en-US" sz="11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63" y="0"/>
            <a:ext cx="6705432" cy="6858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4792" y="3604518"/>
            <a:ext cx="4876678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04792" y="4351238"/>
            <a:ext cx="4876678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1" name="Rectangle à coins arrondis 10"/>
          <p:cNvSpPr/>
          <p:nvPr/>
        </p:nvSpPr>
        <p:spPr>
          <a:xfrm>
            <a:off x="11009870" y="6524368"/>
            <a:ext cx="1095632" cy="24713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Realized</a:t>
            </a:r>
            <a:r>
              <a:rPr lang="fr-FR" sz="900" dirty="0" smtClean="0">
                <a:latin typeface="Segoe UI Emoji" panose="020B0502040204020203" pitchFamily="34" charset="0"/>
                <a:ea typeface="Segoe UI Emoji" panose="020B0502040204020203" pitchFamily="34" charset="0"/>
              </a:rPr>
              <a:t> by </a:t>
            </a:r>
            <a:r>
              <a:rPr lang="fr-FR" sz="900" dirty="0" err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t>Aya.T</a:t>
            </a:r>
            <a:endParaRPr lang="fr-FR" sz="9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898</Words>
  <Application>Microsoft Office PowerPoint</Application>
  <PresentationFormat>Grand écran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9" baseType="lpstr">
      <vt:lpstr>Work Sans SemiBold</vt:lpstr>
      <vt:lpstr>Arial</vt:lpstr>
      <vt:lpstr>Segoe UI Emoji</vt:lpstr>
      <vt:lpstr>Work Sans</vt:lpstr>
      <vt:lpstr>Calibri</vt:lpstr>
      <vt:lpstr>Spline Sans Light</vt:lpstr>
      <vt:lpstr>Work Sans Light</vt:lpstr>
      <vt:lpstr>Work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HP</dc:creator>
  <cp:lastModifiedBy>HP</cp:lastModifiedBy>
  <cp:revision>6</cp:revision>
  <dcterms:created xsi:type="dcterms:W3CDTF">2026-10-04T10:47:50Z</dcterms:created>
  <dcterms:modified xsi:type="dcterms:W3CDTF">2026-10-04T13:23:57Z</dcterms:modified>
</cp:coreProperties>
</file>